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173CB-78A6-F540-B411-561ECEDB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928C5-60EB-363C-39C5-37B2989C6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DB304-F58B-A95A-244C-3F5B396F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CC22-EAD5-EDB7-383F-4923C3EEC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5BCEC-7C8D-3E22-84FE-BEEAF475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4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6049-8D0B-3AA7-DDF7-56DD4A19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6F0C5-F580-B5FB-716D-18D74313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9083-3741-8481-CDAB-5722686F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05384-6E83-CC9A-077A-53C5B71F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75636-67ED-F345-5454-53348888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68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EF4E-D53E-17EF-8DFD-7816DEE03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81F7D-FB57-6AEB-092A-8B01F2A07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6AC5D-8939-EBD6-92A6-71797E2D3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F2338-E93C-E9E6-3E89-2DD7D901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3F08A-2441-C720-7BC3-04605527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3EDD-012A-8A6B-B63F-20EC91EB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23C4C-4BD9-F1D6-BBCA-E9CCC5F4BE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41E89-95F2-E423-85F3-83C740A87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06637-4658-CEB8-B792-73F23955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3F43A-197F-5D4B-6675-FE6714AB9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1AF99-0846-CBF9-FAF6-8B4BFA46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79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5558-6DD6-2BA7-4C72-E7062FEA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B793E-DCD1-BC7E-DD4B-E41A86836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B17CD2-1979-A29A-AEA7-A2A640CB1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FB8495-BD58-B8F2-FE87-44CBF7817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64600-BB7F-A7EC-E916-35EA1052E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34647C-8182-5AE5-E6A2-81FF3C4E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F158CA-520A-D955-11D4-58E11F9B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D09462-B848-F0A5-597B-50899BC7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07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E7B0E-FB8E-7D86-E5C6-EBBDBA04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4338C9-C2B5-CFB6-9F23-04D493FC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592E67-3900-8A22-ECE4-9F84BAC4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24A6B-ADE4-D8AE-663F-7BBF249F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2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2FAC4-C5D8-279B-FB47-A6D075A80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6C050-105F-7184-2C2C-B08AFCF1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B931A-54B1-C8D2-404C-4C9CEDAE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3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2493-6BF9-3A1C-1EF8-A3CC0D2D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917D6-4B44-E158-A5C8-0A81739CD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0AA8C-4751-CA4F-CA1B-53B165DA3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984AD-E401-4023-4457-96F058B2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71134-4765-F289-4ABE-201D6C94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91C47-81E9-4ED1-CDE3-6026C124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0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EC92-B128-944B-5E11-0D9EB762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FDB181-8C82-1DB4-B92D-C3427447C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31876-302E-6A3A-B3B7-814DE7CD1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29164-F733-A8CD-5888-4686CE84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5DAF9-E7B6-CFBF-D906-927607E6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AD513-F28A-0F69-A8DA-DDBB427F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3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47A3-10FB-EAF5-C8CD-D7388F77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A7181-1D62-E1AD-46E3-72AA2B24F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1CFB4-7B78-2FEC-9149-2EC14E9A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7B9CA-8C3A-E9AA-976C-A70169D27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C98BD-8576-7898-B019-259A3FA9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7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C8F088-D773-614B-DDC2-BEDAD8D46C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CB0C6-9DBC-8865-F834-9A2CB4698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8B8B5-00E6-31F6-CBA0-108D6318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56D96-04EA-9EDB-3F68-EA296F8B0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AC0F-0406-E553-3315-5BB93183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4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0D1BC-E302-13FE-2BF5-7E4D1F61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33410-8F4A-EEBD-F0CA-B82F7CBF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7050D-00EE-92D4-E57D-D6150E4EF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B6B50-2859-4C58-8377-682FEA2A120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59FAD-316D-5969-D7BD-482F743E6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1429D-83C3-694B-3E34-D3F1F9274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D46C7-FC53-4690-A602-701AE15A0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6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nut 4"/>
          <p:cNvSpPr/>
          <p:nvPr/>
        </p:nvSpPr>
        <p:spPr>
          <a:xfrm>
            <a:off x="822960" y="2468880"/>
            <a:ext cx="2560320" cy="2560320"/>
          </a:xfrm>
          <a:prstGeom prst="donut">
            <a:avLst>
              <a:gd name="adj" fmla="val 12000"/>
            </a:avLst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594360"/>
            <a:ext cx="420624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jhf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877824"/>
            <a:ext cx="1645920" cy="2565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697480" y="777240"/>
            <a:ext cx="10972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omce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749808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3440" y="137160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8C3D4"/>
                </a:solidFill>
                <a:latin typeface="Trebuchet MS"/>
              </a:rPr>
              <a:t>PHASE 6 · ADVANCED SYSTEMS &amp; CAPSTONE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7223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FFFFF"/>
                </a:solidFill>
                <a:latin typeface="Trebuchet MS"/>
              </a:rPr>
              <a:t>Deployment &amp; Advanced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7D8E8"/>
                </a:solidFill>
                <a:latin typeface="Calibri"/>
              </a:rPr>
              <a:t>Ship it: package the agent as a containerized service, handle async/streaming/state at scale, and plan Day-2 operations.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224528"/>
            <a:ext cx="3108960" cy="320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Module 12  ·  3 hours  ·  Deploy a callable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4406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E97AE"/>
                </a:solidFill>
                <a:latin typeface="Calibri"/>
              </a:rPr>
              <a:t>Lead Trainers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65099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Alaaldin Ahmed   ·   Mohammed Abu Alhalaweih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9893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E97AE"/>
                </a:solidFill>
                <a:latin typeface="Calibri"/>
              </a:rPr>
              <a:t>Jerusalem High-Tech Foundry (JHF)  ·  In partnership with COMCEC</a:t>
            </a:r>
          </a:p>
        </p:txBody>
      </p:sp>
    </p:spTree>
    <p:extLst>
      <p:ext uri="{BB962C8B-B14F-4D97-AF65-F5344CB8AC3E}">
        <p14:creationId xmlns:p14="http://schemas.microsoft.com/office/powerpoint/2010/main" val="426174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After this module, you can…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868680" cy="8686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Package and deploy an agent as a service (HTTP API + container).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74519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56248" y="2194560"/>
            <a:ext cx="868680" cy="86868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3528" y="2167127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Apply advanced patterns: async/long-running tasks, streaming, state at scale.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59" y="3977639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Plan post-deploy: monitoring, iteration, and a deployment checklist.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657600"/>
            <a:ext cx="5349240" cy="15544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56248" y="3977639"/>
            <a:ext cx="868680" cy="868680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3950208"/>
            <a:ext cx="3749039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500" b="1">
                <a:solidFill>
                  <a:srgbClr val="1E293B"/>
                </a:solidFill>
                <a:latin typeface="Calibri"/>
              </a:rPr>
              <a:t>Verify health and traces on the deployed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04045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1 · SERVING AN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From notebook to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33172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30452" y="2395728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API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/chat, 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20345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1490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14900" y="2194560"/>
            <a:ext cx="233172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96712" y="2395728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634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your graph +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6620" y="2743200"/>
            <a:ext cx="20345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194560"/>
            <a:ext cx="2331720" cy="17373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2194560"/>
            <a:ext cx="233172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62972" y="2395728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24612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6118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Docker — runs anywhere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FastAPI exposes POST /chat (run) and GET /health (liveness).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Secrets via env injected at runtime — never baked into the image.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552436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2 · ADVANCED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Design for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852160" cy="35661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85216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47"/>
                </a:solidFill>
                <a:latin typeface="Trebuchet MS"/>
              </a:rPr>
              <a:t>Beyond sync request/response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43200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660904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Async/long-running: return a task id + poll/stream.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0128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27832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Streaming: stream tokens/steps for responsiveness.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77056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State at scale: store outside the process.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43984"/>
            <a:ext cx="164592" cy="16459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4361688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0">
                <a:solidFill>
                  <a:srgbClr val="1E293B"/>
                </a:solidFill>
                <a:latin typeface="Calibri"/>
              </a:rPr>
              <a:t>Concurrency: isolate per-request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28800"/>
            <a:ext cx="5029200" cy="35661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1828800"/>
            <a:ext cx="502920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21945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Trebuchet MS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834640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Agents take seconds–minutes — don’t block.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438144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Replicas must share state &amp; survive restarts.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41648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Real inputs differ from your test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645152"/>
            <a:ext cx="4434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F5A623"/>
                </a:solidFill>
                <a:latin typeface="Calibri"/>
              </a:rPr>
              <a:t>•  </a:t>
            </a:r>
          </a:p>
          <a:p>
            <a:pPr algn="l">
              <a:lnSpc>
                <a:spcPct val="103000"/>
              </a:lnSpc>
            </a:pPr>
            <a:r>
              <a:rPr sz="1300" b="0">
                <a:solidFill>
                  <a:srgbClr val="C7D8E8"/>
                </a:solidFill>
                <a:latin typeface="Calibri"/>
              </a:rPr>
              <a:t>Monitor success, cost, latency in production.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34179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3 · DAY-2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Deployment isn’t the finish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965960" y="2148840"/>
            <a:ext cx="768096" cy="768096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before you 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Secrets via env, health check, guardrails on, tracing on, budgets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828800"/>
            <a:ext cx="3611880" cy="3429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1828800"/>
            <a:ext cx="3611880" cy="109728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15583" y="2148840"/>
            <a:ext cx="768096" cy="768096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E2A47"/>
                </a:solidFill>
                <a:latin typeface="Trebuchet MS"/>
              </a:rPr>
              <a:t>Iteration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stay healthy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3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1E293B"/>
                </a:solidFill>
                <a:latin typeface="Calibri"/>
              </a:rPr>
              <a:t>Prod failures → add to eval set → fix → redeploy. Gate on the suite.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828800"/>
            <a:ext cx="3611880" cy="34290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1828800"/>
            <a:ext cx="3611880" cy="1097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65208" y="2148840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0175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Trebuchet MS"/>
              </a:rP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3511296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DCE8F4"/>
                </a:solidFill>
                <a:latin typeface="Calibri"/>
              </a:rPr>
              <a:t>watch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041648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>
                <a:solidFill>
                  <a:srgbClr val="C7D8E8"/>
                </a:solidFill>
                <a:latin typeface="Calibri"/>
              </a:rPr>
              <a:t>Wire M10 traces/metrics to a dashboard; track errors &amp; cost live.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Calibri"/>
              </a:rPr>
              <a:t>→  </a:t>
            </a:r>
          </a:p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Deployment isn’t the finish line — it’s where the real eval set begins.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584311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A623"/>
                </a:solidFill>
                <a:latin typeface="Trebuchet MS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Deploy a containerized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C7D8E8"/>
                </a:solidFill>
                <a:latin typeface="Calibri"/>
              </a:rPr>
              <a:t>Wrap your agent in a FastAPI app (/chat, /health), containerize it with Docker, and smoke-test the live endpoint with traces flowing.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1672" cy="1234440"/>
          </a:xfrm>
          <a:prstGeom prst="roundRect">
            <a:avLst/>
          </a:prstGeom>
          <a:solidFill>
            <a:srgbClr val="143A5E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9077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A623"/>
                </a:solidFill>
                <a:latin typeface="Trebuchet MS"/>
              </a:rPr>
              <a:t>DEFINITION OF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0">
                <a:solidFill>
                  <a:srgbClr val="FFFFFF"/>
                </a:solidFill>
                <a:latin typeface="Calibri"/>
              </a:rPr>
              <a:t>GET /health → ok; POST /chat answers the math question (36); the service runs in a container with a captured trace.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M12-Lab-Worksheet.md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Step-by-step instructions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4297680"/>
            <a:ext cx="5394960" cy="914400"/>
          </a:xfrm>
          <a:prstGeom prst="roundRect">
            <a:avLst/>
          </a:prstGeom>
          <a:solidFill>
            <a:srgbClr val="143A5E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73952" y="4544568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0E2A47"/>
                </a:solidFill>
                <a:latin typeface="Trebuchet M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4348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Consolas"/>
              </a:rPr>
              <a:t>starter-code/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477316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8"/>
                </a:solidFill>
                <a:latin typeface="Calibri"/>
              </a:rPr>
              <a:t>app.py + Dockerfile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56818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8D4"/>
                </a:solidFill>
                <a:latin typeface="Trebuchet M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2A47"/>
                </a:solidFill>
                <a:latin typeface="Trebuchet MS"/>
              </a:rPr>
              <a:t>Key terms to take 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" y="213055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API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Exposes the agent over HTTP.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54296" y="213055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3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Portable package of code + deps + runtime.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1874519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19" y="213055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194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Health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83463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Endpoint signaling the service is alive.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Async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Long work via task id + poll/stream.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8264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654296" y="4370832"/>
            <a:ext cx="502920" cy="50292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Externalized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Conversation/memory stored outside the process.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4114800"/>
            <a:ext cx="36118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03919" y="437083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rebuchet MS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4348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47"/>
                </a:solidFill>
                <a:latin typeface="Trebuchet MS"/>
              </a:rPr>
              <a:t>Iteration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507492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Prod failures → eval set → fix → redeploy.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0078D4"/>
                </a:solidFill>
                <a:latin typeface="Calibri"/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334212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C3D4"/>
                </a:solidFill>
                <a:latin typeface="Trebuchet MS"/>
              </a:rPr>
              <a:t>CHECK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Trebuchet MS"/>
              </a:rPr>
              <a:t>Quick Quiz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What two endpoints should a minimal agent service expose?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96896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Why containerize the agent?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5526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How should secrets reach the container?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13631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Why use async/long-running task handling for agents?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53712"/>
            <a:ext cx="457200" cy="457200"/>
          </a:xfrm>
          <a:prstGeom prst="ellipse">
            <a:avLst/>
          </a:prstGeom>
          <a:solidFill>
            <a:srgbClr val="18C3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700" b="1">
                <a:solidFill>
                  <a:srgbClr val="0E2A47"/>
                </a:solidFill>
                <a:latin typeface="Trebuchet 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71999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Why must state live outside the process at scale?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23560"/>
            <a:ext cx="11091672" cy="548640"/>
          </a:xfrm>
          <a:prstGeom prst="roundRect">
            <a:avLst/>
          </a:prstGeom>
          <a:solidFill>
            <a:srgbClr val="143A5E"/>
          </a:solidFill>
          <a:ln w="12700">
            <a:solidFill>
              <a:srgbClr val="18C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8C3D4"/>
                </a:solidFill>
                <a:latin typeface="Calibri"/>
              </a:rPr>
              <a:t>Next:   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Capstone — Production-Grade Agentic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Agentic AI Bootcamp   ·   JHF × COMCEC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641908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7E97AE"/>
                </a:solidFill>
                <a:latin typeface="Calibri"/>
              </a:rPr>
              <a:t>Module 12 · Deployment &amp; Advanced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18C3D4"/>
                </a:solidFill>
                <a:latin typeface="Calibri"/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3537429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Custom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Alaaldin Ahmed</dc:creator>
  <cp:lastModifiedBy>Alaaldin Ahmed</cp:lastModifiedBy>
  <cp:revision>1</cp:revision>
  <dcterms:created xsi:type="dcterms:W3CDTF">2026-07-31T12:56:24Z</dcterms:created>
  <dcterms:modified xsi:type="dcterms:W3CDTF">2026-07-31T12:56:24Z</dcterms:modified>
</cp:coreProperties>
</file>